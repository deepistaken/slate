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3383280"/>
            <a:ext cx="3840480" cy="3840480"/>
          </a:xfrm>
          <a:prstGeom prst="ellipse">
            <a:avLst/>
          </a:prstGeom>
          <a:solidFill>
            <a:srgbClr val="F59E0B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SLATE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math tutor that makes you learn —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cheat.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handwrite their solution on a tablet. Slate reads it, coaches Socratically, marks it like a real examiner, and gets them exam-ready — without ever just handing over the answer.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·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made math homework instant. It made real learning optional.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68880"/>
            <a:ext cx="640080" cy="64008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6289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3317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Answer-getters, not teachers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2715768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Photomath and Gauth snap a photo and spit out the answer. Fast for homework, useless for the exam — the student never builds the skill.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3630168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950208"/>
            <a:ext cx="640080" cy="64008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11022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81304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isn't typed, it's handwritten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11680" y="4197096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math is worked out by hand. Type-in-a-box and camera tools break the one thing that makes it click: writing it yourself.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5111496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5431536"/>
            <a:ext cx="640080" cy="64008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559155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529437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 &amp; parents can't trust AI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11680" y="5678424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Post-ChatGPT, schools see AI as a cheating engine. There's no tool that proves a student actually did the work.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Slate coaches you by hand — and refuses to just give the answer.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44852"/>
            <a:ext cx="283464" cy="283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84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Handwrite the solution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54480" y="24505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with a stylus on a full canvas; Slate reads your work as you go.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312724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26898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guided, not given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54480" y="3474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Socratic hints — a nudge, then more, only as far as you need.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4151376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429310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133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 like the exam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54480" y="44988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vs. answer marks, a grade band, and where you lost points.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5175504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5317236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51572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Mastery that follows you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554480" y="552297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 updates a model of what you know and what to practice next.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452360" y="2011680"/>
            <a:ext cx="3931920" cy="4160520"/>
          </a:xfrm>
          <a:prstGeom prst="roundRect">
            <a:avLst>
              <a:gd name="adj" fmla="val 2791"/>
            </a:avLst>
          </a:prstGeom>
          <a:solidFill>
            <a:srgbClr val="16182E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26680" y="2286000"/>
            <a:ext cx="1318565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2" name="Text 16"/>
          <p:cNvSpPr/>
          <p:nvPr/>
        </p:nvSpPr>
        <p:spPr>
          <a:xfrm>
            <a:off x="7726680" y="2286000"/>
            <a:ext cx="1318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a,b,c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9154973" y="2286000"/>
            <a:ext cx="1318565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4" name="Text 18"/>
          <p:cNvSpPr/>
          <p:nvPr/>
        </p:nvSpPr>
        <p:spPr>
          <a:xfrm>
            <a:off x="9154973" y="2286000"/>
            <a:ext cx="13185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formula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10583266" y="2286000"/>
            <a:ext cx="863194" cy="310896"/>
          </a:xfrm>
          <a:prstGeom prst="roundRect">
            <a:avLst>
              <a:gd name="adj" fmla="val 50000"/>
            </a:avLst>
          </a:prstGeom>
          <a:solidFill>
            <a:srgbClr val="3A3F63"/>
          </a:solidFill>
          <a:ln/>
        </p:spPr>
      </p:sp>
      <p:sp>
        <p:nvSpPr>
          <p:cNvPr id="26" name="Text 20"/>
          <p:cNvSpPr/>
          <p:nvPr/>
        </p:nvSpPr>
        <p:spPr>
          <a:xfrm>
            <a:off x="10583266" y="2286000"/>
            <a:ext cx="863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7726680" y="27889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28" name="Text 22"/>
          <p:cNvSpPr/>
          <p:nvPr/>
        </p:nvSpPr>
        <p:spPr>
          <a:xfrm>
            <a:off x="7726680" y="2880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 -b ± √(b² - 4ac) ) / 2a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72668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handwriting, read live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726680" y="397764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E2140"/>
          </a:solidFill>
          <a:ln/>
        </p:spPr>
      </p:sp>
      <p:sp>
        <p:nvSpPr>
          <p:cNvPr id="31" name="Text 25"/>
          <p:cNvSpPr/>
          <p:nvPr/>
        </p:nvSpPr>
        <p:spPr>
          <a:xfrm>
            <a:off x="7863840" y="4069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— discriminant's right. What goes in the denominator?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726680" y="4983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EF3E2"/>
          </a:solidFill>
          <a:ln/>
        </p:spPr>
      </p:sp>
      <p:sp>
        <p:nvSpPr>
          <p:cNvPr id="33" name="Text 27"/>
          <p:cNvSpPr/>
          <p:nvPr/>
        </p:nvSpPr>
        <p:spPr>
          <a:xfrm>
            <a:off x="7726680" y="5074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2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· grade B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9692640" y="49834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4F46E5"/>
          </a:solidFill>
          <a:ln/>
        </p:spPr>
      </p:sp>
      <p:sp>
        <p:nvSpPr>
          <p:cNvPr id="35" name="Text 29"/>
          <p:cNvSpPr/>
          <p:nvPr/>
        </p:nvSpPr>
        <p:spPr>
          <a:xfrm>
            <a:off x="9692640" y="50749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9C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streak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shifts make this the moment.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46888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7310" y="26631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finally read handwriting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4206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 (Gemini vision) now transcribe messy handwritten math reliably — the core loop was impossible two years ago.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62272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82312" y="246888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622" y="26631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82312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Tablets + styluses are everywhere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82312" y="4206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iPad, S Pen, Surface Pen are standard for students. The hardware for handwriting-native learning is already in their hands.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214884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2468880"/>
            <a:ext cx="777240" cy="7772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934" y="26631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3429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 need integrity, now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21624" y="42062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9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ChatGPT, institutions are desperate for tools that build — and prove — real learning instead of enabling cheating.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blank canvas to exam-ready.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2587752" cy="3291840"/>
          </a:xfrm>
          <a:prstGeom prst="roundRect">
            <a:avLst>
              <a:gd name="adj" fmla="val 424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06040"/>
            <a:ext cx="731520" cy="73152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788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DC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972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your exam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Abitur, Bac, A-Level, IB or general — in that exam's topics, style and language.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10128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584448" y="2286000"/>
            <a:ext cx="2587752" cy="3291840"/>
          </a:xfrm>
          <a:prstGeom prst="roundRect">
            <a:avLst>
              <a:gd name="adj" fmla="val 424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58768" y="2606040"/>
            <a:ext cx="731520" cy="73152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7528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DC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385876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 by hand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58768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Handwrite on the canvas; Slate reads each line and tracks your step.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071616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345936" y="2286000"/>
            <a:ext cx="2587752" cy="3291840"/>
          </a:xfrm>
          <a:prstGeom prst="roundRect">
            <a:avLst>
              <a:gd name="adj" fmla="val 424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620256" y="2606040"/>
            <a:ext cx="731520" cy="73152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7889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29016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DC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6620256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Guided, not given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620256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hints and checkpoints keep the answer yours to find.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833104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9107424" y="2286000"/>
            <a:ext cx="2587752" cy="3291840"/>
          </a:xfrm>
          <a:prstGeom prst="roundRect">
            <a:avLst>
              <a:gd name="adj" fmla="val 424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81744" y="2606040"/>
            <a:ext cx="731520" cy="731520"/>
          </a:xfrm>
          <a:prstGeom prst="ellipse">
            <a:avLst/>
          </a:prstGeom>
          <a:solidFill>
            <a:srgbClr val="EEF0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4" y="27889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90504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9DC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381744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Marked &amp; tracked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381744" y="40233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marks feed a mastery model and predicted grade.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Slate does that answer-getters can't.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8716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628900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487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Examiner marking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vs. answer marks in the exam's own grading system.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2272" y="21945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48716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2628900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487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Misconception memory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36592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your recurring errors and pre-warns you next time.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21945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248716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36" y="2628900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24871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Exam-aligned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31272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Abitur, Bac, A-Level, IB — real topics, in the native language.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2960" y="4160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97280" y="445312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012" y="4594860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453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mode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97280" y="50932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answers, tamper-evident work log — a tool schools can trust.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62272" y="4160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36592" y="445312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4594860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22392" y="4453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Struggle detection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36592" y="50932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how you write — erasing, pauses — to spot where you're stuck.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41605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75904" y="4453128"/>
            <a:ext cx="566928" cy="566928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4594860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4531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grade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75904" y="50932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estimate of your exam grade and what would raise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optimizes for the answer.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Handwriting-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answers)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95160" y="21488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like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examiner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7844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CED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072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Photomath / Gauth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28072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8072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8072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8072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78440" y="2807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465576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C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4655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Wolfram / Symbolab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74720" y="34655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12080" y="346557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46557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95360" y="346557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78440" y="3465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123944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CED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Khanmigo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74720" y="4123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41239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412394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5360" y="41239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378440" y="412394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4782312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 w="12700">
            <a:solidFill>
              <a:srgbClr val="ECED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782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Math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74720" y="4782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12080" y="4782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47823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95360" y="478231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78440" y="4782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2960" y="5440680"/>
            <a:ext cx="11109960" cy="54864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1560" y="5440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Slate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474720" y="5440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12080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95160" y="5440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95360" y="5440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378440" y="5440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huge market, and AI is the tailwind.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prep &amp; tutoring market,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to ~$91B by 2030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62272" y="22402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36592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$153B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736592" y="36118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online tutoring,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36592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tutoring is the #1 growth driver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224028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E214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75904" y="36118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exam-takers each year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44348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Abitur, Bac, A-Level, IB — parents pay for prep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high-stakes European exams. Land Abitur/Bac cram students, expand exam-by-exam and region-by-region.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subscription now, schools next.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50592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6106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3317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consumer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69748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metered tier to hook students; ~€12/mo Pro for unlimited practice, marking and mock exams. Parents are the payer for younger students.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356616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867912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02793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11680" y="37490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 schools (next)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011680" y="411480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licences with a teacher dashboard and integrity reporting. Slower to close, stickier, higher value — and no competitor serves 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98348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5285232"/>
            <a:ext cx="640080" cy="6400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54452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51663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unit economics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11680" y="55321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model keys (Gemini direct) mean controllable COGS per session. Free tier is metered tightly because each call has real cost.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product is already built.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583680" cy="3840480"/>
          </a:xfrm>
          <a:prstGeom prst="roundRect">
            <a:avLst>
              <a:gd name="adj" fmla="val 2857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77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&amp; functional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986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8437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tutor with Socratic hint ladder &amp; checkpoints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0156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33467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Examiner-style marking in each exam's grading system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90448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81328" y="38496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model, adaptive practice &amp; predicted grade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0740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1328" y="435254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Misconception memory + struggle detection from ink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91032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81328" y="48554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presets: Abitur, Bac, A-Level, IB (native language)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41324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81328" y="53583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mode with tamper-evident work logs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7635240" y="2148840"/>
            <a:ext cx="3703320" cy="3840480"/>
          </a:xfrm>
          <a:prstGeom prst="roundRect">
            <a:avLst>
              <a:gd name="adj" fmla="val 2963"/>
            </a:avLst>
          </a:prstGeom>
          <a:solidFill>
            <a:srgbClr val="16182E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790956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7909560" y="292608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(own API key)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TanStack on Cloudflare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tablet + stylus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7909560" y="461772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1E2140"/>
          </a:solidFill>
          <a:ln/>
        </p:spPr>
      </p:sp>
      <p:sp>
        <p:nvSpPr>
          <p:cNvPr id="22" name="Text 14"/>
          <p:cNvSpPr/>
          <p:nvPr/>
        </p:nvSpPr>
        <p:spPr>
          <a:xfrm>
            <a:off x="8092440" y="47548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pre-launch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9B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accounts, billing, first cohort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built to launched to scaled.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468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3 mo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Launch-ready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694176"/>
            <a:ext cx="100584" cy="1005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+ cloud sync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4242816"/>
            <a:ext cx="100584" cy="1005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billing &amp; abuse controls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791456"/>
            <a:ext cx="100584" cy="1005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first Abitur cohort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462272" y="21945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736592" y="2468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6" name="Text 11"/>
          <p:cNvSpPr/>
          <p:nvPr/>
        </p:nvSpPr>
        <p:spPr>
          <a:xfrm>
            <a:off x="4736592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9 mo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36592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Deepen &amp; prove</a:t>
            </a:r>
            <a:endParaRPr lang="en-US" sz="1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94176"/>
            <a:ext cx="100584" cy="1005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965192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timed mock exams, scored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42816"/>
            <a:ext cx="100584" cy="1005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65192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/ parent dashboards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791456"/>
            <a:ext cx="100584" cy="1005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965192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accuracy eval loop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8101584" y="219456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375904" y="24688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6" name="Text 18"/>
          <p:cNvSpPr/>
          <p:nvPr/>
        </p:nvSpPr>
        <p:spPr>
          <a:xfrm>
            <a:off x="8375904" y="2468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→ 18 mo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8375904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3694176"/>
            <a:ext cx="100584" cy="1005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604504" y="3611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exams &amp; regions</a:t>
            </a:r>
            <a:endParaRPr lang="en-US" sz="12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4242816"/>
            <a:ext cx="100584" cy="10058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604504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school pilots</a:t>
            </a:r>
            <a:endParaRPr lang="en-US" sz="12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4192" y="4791456"/>
            <a:ext cx="100584" cy="10058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604504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via study creators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Founder-led, product-first.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6F7FB"/>
          </a:solidFill>
          <a:ln w="12700">
            <a:solidFill>
              <a:srgbClr val="E7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651760"/>
            <a:ext cx="1005840" cy="100584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29032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774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39776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Slate product end-to-end. [Add your background, credentials, and the story of why you're the person to build this.]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2860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16182E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next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37960" y="32461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 (full-stack / ML)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/ exam-content lead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(student &amp; creator channels)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754880" cy="475488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554480"/>
            <a:ext cx="4206240" cy="420624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every student a tutor that makes them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understand.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C9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a [pre-seed] round to reach launch: accounts and billing, our first paying Abitur cohort, and a measured handwriting-accuracy benchmark. Slate is the tool that teaches — and proves — real learning in the AI era.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4937760" cy="1051560"/>
          </a:xfrm>
          <a:prstGeom prst="roundRect">
            <a:avLst>
              <a:gd name="adj" fmla="val 8696"/>
            </a:avLst>
          </a:prstGeom>
          <a:solidFill>
            <a:srgbClr val="1E214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0292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</a:t>
            </a:r>
            <a:endParaRPr lang="en-US" sz="11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€[amount] pre-seed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489204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1E2140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5029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deepwastaken221@gmail.com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Slate — Investor Deck</dc:title>
  <dc:subject>PptxGenJS Presentation</dc:subject>
  <dc:creator>Slate</dc:creator>
  <cp:lastModifiedBy>Slate</cp:lastModifiedBy>
  <cp:revision>1</cp:revision>
  <dcterms:created xsi:type="dcterms:W3CDTF">2026-07-10T06:52:13Z</dcterms:created>
  <dcterms:modified xsi:type="dcterms:W3CDTF">2026-07-10T06:52:13Z</dcterms:modified>
</cp:coreProperties>
</file>